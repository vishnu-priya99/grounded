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Q3 2026 revenue (USD)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EMEA</c:v>
                </c:pt>
                <c:pt idx="2">
                  <c:v>APAC</c:v>
                </c:pt>
                <c:pt idx="3">
                  <c:v>LATAM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996000</c:v>
                </c:pt>
                <c:pt idx="1">
                  <c:v>714000</c:v>
                </c:pt>
                <c:pt idx="2">
                  <c:v>540000</c:v>
                </c:pt>
                <c:pt idx="3">
                  <c:v>210000</c:v>
                </c:pt>
              </c:numCache>
            </c:numRef>
          </c:val>
        </c:ser>
        <c:dLbls>
          <c:numFmt formatCode="#,##0.##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(USD M)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Q3 2025</c:v>
                </c:pt>
                <c:pt idx="1">
                  <c:v>Q4 2025</c:v>
                </c:pt>
                <c:pt idx="2">
                  <c:v>Q1 2026</c:v>
                </c:pt>
                <c:pt idx="3">
                  <c:v>Q2 2026</c:v>
                </c:pt>
                <c:pt idx="4">
                  <c:v>Q3 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1.89</c:v>
                </c:pt>
                <c:pt idx="1">
                  <c:v>2.02</c:v>
                </c:pt>
                <c:pt idx="2">
                  <c:v>2.16</c:v>
                </c:pt>
                <c:pt idx="3">
                  <c:v>2.25</c:v>
                </c:pt>
                <c:pt idx="4">
                  <c:v>2.66</c:v>
                </c:pt>
              </c:numCache>
            </c:numRef>
          </c:val>
          <c:smooth val="0"/>
        </c:ser>
        <c:dLbls>
          <c:numFmt formatCode="#,##0.##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Q3 2026 revenue (USD)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Team</c:v>
                </c:pt>
                <c:pt idx="2">
                  <c:v>Starter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1276800</c:v>
                </c:pt>
                <c:pt idx="1">
                  <c:v>930000</c:v>
                </c:pt>
                <c:pt idx="2">
                  <c:v>452200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Acme Cloud — Q3 2026 Board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 the board of directors · 2026-10-08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•  Q3 at a glance</a:t>
            </a:r>
          </a:p>
          <a:p>
            <a:pPr>
              <a:defRPr sz="2000"/>
            </a:pPr>
            <a:r>
              <a:t>•  Revenue by region and segment</a:t>
            </a:r>
          </a:p>
          <a:p>
            <a:pPr>
              <a:defRPr sz="2000"/>
            </a:pPr>
            <a:r>
              <a:t>•  Reliability: the March 9 incident</a:t>
            </a:r>
          </a:p>
          <a:p>
            <a:pPr>
              <a:defRPr sz="2000"/>
            </a:pPr>
            <a:r>
              <a:t>•  Risks</a:t>
            </a:r>
          </a:p>
          <a:p>
            <a:pPr>
              <a:defRPr sz="2000"/>
            </a:pPr>
            <a:r>
              <a:t>•  Q4 priorities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at a glance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7772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3886200"/>
              </a:tblGrid>
              <a:tr h="36576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 2026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USD 2.66M  (+18% QoQ, +41% YoY)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Net revenue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106% overall · 112% EMEA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New logos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612  (APAC-led)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Gross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79%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Support CSAT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4.1  (below 4.4 floor)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API 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99.94%  (SLO 99.9%)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280160"/>
          <a:ext cx="77724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revenue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280160"/>
          <a:ext cx="77724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share by segment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280160"/>
          <a:ext cx="77724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Reliability: 2026-03-09 EMEA incident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•  Sev-1, EMEA only, 47 minutes (14:02–14:49 UTC).</a:t>
            </a:r>
          </a:p>
          <a:p>
            <a:pPr>
              <a:defRPr sz="1800"/>
            </a:pPr>
            <a:r>
              <a:t>•  Cause: a deploy set the DB connection-pool ceiling to 20 instead of 200.</a:t>
            </a:r>
          </a:p>
          <a:p>
            <a:pPr>
              <a:defRPr sz="1800"/>
            </a:pPr>
            <a:r>
              <a:t>•  Detected in 2 min; rolled back via 'make release REF='; recovered by 14:49.</a:t>
            </a:r>
          </a:p>
          <a:p>
            <a:pPr>
              <a:defRPr sz="1800"/>
            </a:pPr>
            <a:r>
              <a:t>•  Six action items tracked; schema bounds and EMEA-scale load test are the key two.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priorities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•  Close the LATAM pipeline gap (1.9x → 3.0x) with a partner motion.</a:t>
            </a:r>
          </a:p>
          <a:p>
            <a:pPr>
              <a:defRPr sz="1800"/>
            </a:pPr>
            <a:r>
              <a:t>•  Staff support to plan; recover CSAT to 4.4+.</a:t>
            </a:r>
          </a:p>
          <a:p>
            <a:pPr>
              <a:defRPr sz="1800"/>
            </a:pPr>
            <a:r>
              <a:t>•  Ship EU data residency GA for Enterprise.</a:t>
            </a:r>
          </a:p>
          <a:p>
            <a:pPr>
              <a:defRPr sz="1800"/>
            </a:pPr>
            <a:r>
              <a:t>•  Hold gross margin at 79% or better.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